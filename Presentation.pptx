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6"/>
  </p:notesMasterIdLst>
  <p:handoutMasterIdLst>
    <p:handoutMasterId r:id="rId17"/>
  </p:handoutMasterIdLst>
  <p:sldIdLst>
    <p:sldId id="256" r:id="rId5"/>
    <p:sldId id="290" r:id="rId6"/>
    <p:sldId id="292" r:id="rId7"/>
    <p:sldId id="299" r:id="rId8"/>
    <p:sldId id="300" r:id="rId9"/>
    <p:sldId id="301" r:id="rId10"/>
    <p:sldId id="302" r:id="rId11"/>
    <p:sldId id="295" r:id="rId12"/>
    <p:sldId id="289" r:id="rId13"/>
    <p:sldId id="294" r:id="rId14"/>
    <p:sldId id="29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5646" autoAdjust="0"/>
  </p:normalViewPr>
  <p:slideViewPr>
    <p:cSldViewPr snapToGrid="0">
      <p:cViewPr varScale="1">
        <p:scale>
          <a:sx n="75" d="100"/>
          <a:sy n="75" d="100"/>
        </p:scale>
        <p:origin x="1056" y="53"/>
      </p:cViewPr>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58" d="100"/>
          <a:sy n="58" d="100"/>
        </p:scale>
        <p:origin x="237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8190EA-5EEC-4300-B6AE-D9734C6C648E}" type="datetimeFigureOut">
              <a:rPr lang="en-US" smtClean="0"/>
              <a:t>7/25/2025</a:t>
            </a:fld>
            <a:endParaRPr lang="en-US" dirty="0"/>
          </a:p>
        </p:txBody>
      </p:sp>
      <p:sp>
        <p:nvSpPr>
          <p:cNvPr id="4" name="Footer Placeholder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FF3A6F-DEFA-45E0-9496-BEE7C2C6F3D0}" type="slidenum">
              <a:rPr lang="en-US" smtClean="0"/>
              <a:t>‹#›</a:t>
            </a:fld>
            <a:endParaRPr lang="en-US"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7/25/2025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a:t>
            </a:fld>
            <a:endParaRPr lang="en-US"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a:t>
            </a:fld>
            <a:endParaRPr lang="en-US" dirty="0"/>
          </a:p>
        </p:txBody>
      </p:sp>
    </p:spTree>
    <p:extLst>
      <p:ext uri="{BB962C8B-B14F-4D97-AF65-F5344CB8AC3E}">
        <p14:creationId xmlns:p14="http://schemas.microsoft.com/office/powerpoint/2010/main" val="16390868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a:t>
            </a:fld>
            <a:endParaRPr lang="en-US" dirty="0"/>
          </a:p>
        </p:txBody>
      </p:sp>
    </p:spTree>
    <p:extLst>
      <p:ext uri="{BB962C8B-B14F-4D97-AF65-F5344CB8AC3E}">
        <p14:creationId xmlns:p14="http://schemas.microsoft.com/office/powerpoint/2010/main" val="16168571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8</a:t>
            </a:fld>
            <a:endParaRPr lang="en-US" dirty="0"/>
          </a:p>
        </p:txBody>
      </p:sp>
    </p:spTree>
    <p:extLst>
      <p:ext uri="{BB962C8B-B14F-4D97-AF65-F5344CB8AC3E}">
        <p14:creationId xmlns:p14="http://schemas.microsoft.com/office/powerpoint/2010/main" val="24747787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9</a:t>
            </a:fld>
            <a:endParaRPr lang="en-US" dirty="0"/>
          </a:p>
        </p:txBody>
      </p:sp>
    </p:spTree>
    <p:extLst>
      <p:ext uri="{BB962C8B-B14F-4D97-AF65-F5344CB8AC3E}">
        <p14:creationId xmlns:p14="http://schemas.microsoft.com/office/powerpoint/2010/main" val="4194793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10</a:t>
            </a:fld>
            <a:endParaRPr lang="en-US" dirty="0"/>
          </a:p>
        </p:txBody>
      </p:sp>
    </p:spTree>
    <p:extLst>
      <p:ext uri="{BB962C8B-B14F-4D97-AF65-F5344CB8AC3E}">
        <p14:creationId xmlns:p14="http://schemas.microsoft.com/office/powerpoint/2010/main" val="33190867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11</a:t>
            </a:fld>
            <a:endParaRPr lang="en-US" dirty="0"/>
          </a:p>
        </p:txBody>
      </p:sp>
    </p:spTree>
    <p:extLst>
      <p:ext uri="{BB962C8B-B14F-4D97-AF65-F5344CB8AC3E}">
        <p14:creationId xmlns:p14="http://schemas.microsoft.com/office/powerpoint/2010/main" val="399008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anchor="b">
            <a:noAutofit/>
          </a:bodyPr>
          <a:lstStyle>
            <a:lvl1pPr algn="l">
              <a:defRPr sz="6000" b="1">
                <a:latin typeface="+mj-lt"/>
              </a:defRPr>
            </a:lvl1pPr>
          </a:lstStyle>
          <a:p>
            <a:r>
              <a:rPr lang="en-US" dirty="0"/>
              <a:t>Click to add title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a:norm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Righ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anchor="ctr" anchorCtr="0">
            <a:noAutofit/>
          </a:bodyPr>
          <a:lstStyle>
            <a:lvl1pPr>
              <a:defRPr sz="6000" b="1">
                <a:latin typeface="+mj-lt"/>
              </a:defRPr>
            </a:lvl1pPr>
          </a:lstStyle>
          <a:p>
            <a:r>
              <a:rPr lang="en-US" dirty="0"/>
              <a:t>Click to add title</a:t>
            </a:r>
          </a:p>
        </p:txBody>
      </p:sp>
      <p:sp>
        <p:nvSpPr>
          <p:cNvPr id="15" name="Picture Placeholder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49126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a:normAutofit/>
          </a:bodyPr>
          <a:lstStyle>
            <a:lvl1pPr marL="342900" indent="-283464">
              <a:spcBef>
                <a:spcPts val="1000"/>
              </a:spcBef>
              <a:buFont typeface="Arial" panose="020B0604020202020204" pitchFamily="34" charset="0"/>
              <a:buChar char="•"/>
              <a:defRPr sz="2000">
                <a:solidFill>
                  <a:schemeClr val="bg1"/>
                </a:solidFill>
                <a:latin typeface="+mn-lt"/>
              </a:defRPr>
            </a:lvl1pPr>
            <a:lvl2pPr marL="566928" indent="-283464">
              <a:spcBef>
                <a:spcPts val="1000"/>
              </a:spcBef>
              <a:buFont typeface="Arial" panose="020B0604020202020204" pitchFamily="34" charset="0"/>
              <a:buChar char="•"/>
              <a:defRPr sz="2000">
                <a:solidFill>
                  <a:schemeClr val="bg1"/>
                </a:solidFill>
                <a:latin typeface="+mn-lt"/>
              </a:defRPr>
            </a:lvl2pPr>
            <a:lvl3pPr marL="850392" indent="-283464">
              <a:spcBef>
                <a:spcPts val="1000"/>
              </a:spcBef>
              <a:buFont typeface="Arial" panose="020B0604020202020204" pitchFamily="34" charset="0"/>
              <a:buChar char="•"/>
              <a:defRPr sz="2000">
                <a:solidFill>
                  <a:schemeClr val="bg1"/>
                </a:solidFill>
                <a:latin typeface="+mn-lt"/>
              </a:defRPr>
            </a:lvl3pPr>
            <a:lvl4pPr marL="1097280" indent="-283464">
              <a:spcBef>
                <a:spcPts val="1000"/>
              </a:spcBef>
              <a:buFont typeface="Arial" panose="020B0604020202020204" pitchFamily="34" charset="0"/>
              <a:buChar char="•"/>
              <a:defRPr sz="2000">
                <a:solidFill>
                  <a:schemeClr val="bg1"/>
                </a:solidFill>
                <a:latin typeface="+mn-lt"/>
              </a:defRPr>
            </a:lvl4pPr>
            <a:lvl5pPr marL="1371600"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83176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reeform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7" name="Freeform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anchor="b">
            <a:noAutofit/>
          </a:bodyPr>
          <a:lstStyle>
            <a:lvl1pPr algn="l">
              <a:defRPr sz="6000" b="1">
                <a:solidFill>
                  <a:schemeClr val="bg1"/>
                </a:solidFill>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anchor="ctr" anchorCtr="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986529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2 Column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67843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ntent">
    <p:bg>
      <p:bgPr>
        <a:solidFill>
          <a:schemeClr val="accent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anchor="b">
            <a:noAutofit/>
          </a:bodyPr>
          <a:lstStyle>
            <a:lvl1pPr>
              <a:defRPr sz="4200" b="1">
                <a:solidFill>
                  <a:schemeClr val="bg1"/>
                </a:solidFill>
                <a:latin typeface="+mj-lt"/>
              </a:defRPr>
            </a:lvl1pPr>
          </a:lstStyle>
          <a:p>
            <a:r>
              <a:rPr lang="en-US" dirty="0"/>
              <a:t>Click to add title</a:t>
            </a:r>
          </a:p>
        </p:txBody>
      </p:sp>
      <p:sp>
        <p:nvSpPr>
          <p:cNvPr id="14" name="Content Placeholder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a:normAutofit/>
          </a:bodyPr>
          <a:lstStyle>
            <a:lvl1pPr marL="530352" indent="-530352">
              <a:spcBef>
                <a:spcPts val="1000"/>
              </a:spcBef>
              <a:buFont typeface="+mj-lt"/>
              <a:buAutoNum type="arabicPeriod"/>
              <a:defRPr sz="2000">
                <a:solidFill>
                  <a:schemeClr val="bg1"/>
                </a:solidFill>
                <a:latin typeface="+mn-lt"/>
              </a:defRPr>
            </a:lvl1pPr>
            <a:lvl2pPr marL="1097280" indent="-530352">
              <a:spcBef>
                <a:spcPts val="1000"/>
              </a:spcBef>
              <a:buFont typeface="+mj-lt"/>
              <a:buAutoNum type="alphaLcPeriod"/>
              <a:defRPr sz="2000">
                <a:solidFill>
                  <a:schemeClr val="bg1"/>
                </a:solidFill>
                <a:latin typeface="+mn-lt"/>
              </a:defRPr>
            </a:lvl2pPr>
            <a:lvl3pPr marL="1645920" indent="-530352">
              <a:spcBef>
                <a:spcPts val="1000"/>
              </a:spcBef>
              <a:buFont typeface="+mj-lt"/>
              <a:buAutoNum type="arabicParenR"/>
              <a:defRPr sz="2000">
                <a:solidFill>
                  <a:schemeClr val="bg1"/>
                </a:solidFill>
                <a:latin typeface="+mn-lt"/>
              </a:defRPr>
            </a:lvl3pPr>
            <a:lvl4pPr marL="1920240" indent="-530352">
              <a:spcBef>
                <a:spcPts val="1000"/>
              </a:spcBef>
              <a:buFont typeface="+mj-lt"/>
              <a:buAutoNum type="alphaLcParenR"/>
              <a:defRPr sz="2000">
                <a:solidFill>
                  <a:schemeClr val="bg1"/>
                </a:solidFill>
                <a:latin typeface="+mn-lt"/>
              </a:defRPr>
            </a:lvl4pPr>
            <a:lvl5pPr marL="2560320" indent="-514350">
              <a:spcBef>
                <a:spcPts val="1000"/>
              </a:spcBef>
              <a:buFont typeface="+mj-lt"/>
              <a:buAutoNum type="romanLcPeriod"/>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20426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and Content and Image 1">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0"/>
            <a:ext cx="12208822" cy="6858002"/>
            <a:chOff x="0" y="0"/>
            <a:chExt cx="12208822" cy="6858002"/>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7200"/>
            <a:ext cx="10643508" cy="1371600"/>
          </a:xfrm>
        </p:spPr>
        <p:txBody>
          <a:bodyPr anchor="b">
            <a:noAutofit/>
          </a:bodyPr>
          <a:lstStyle>
            <a:lvl1pPr>
              <a:defRPr sz="4200" b="1">
                <a:latin typeface="+mj-lt"/>
              </a:defRPr>
            </a:lvl1pPr>
          </a:lstStyle>
          <a:p>
            <a:r>
              <a:rPr lang="en-US" dirty="0"/>
              <a:t>Click to add title</a:t>
            </a:r>
          </a:p>
        </p:txBody>
      </p:sp>
      <p:sp>
        <p:nvSpPr>
          <p:cNvPr id="10" name="Content Placeholder 2">
            <a:extLst>
              <a:ext uri="{FF2B5EF4-FFF2-40B4-BE49-F238E27FC236}">
                <a16:creationId xmlns:a16="http://schemas.microsoft.com/office/drawing/2014/main" id="{B07A1CF7-9B3B-E43E-830E-DAB65B608249}"/>
              </a:ext>
            </a:extLst>
          </p:cNvPr>
          <p:cNvSpPr>
            <a:spLocks noGrp="1"/>
          </p:cNvSpPr>
          <p:nvPr>
            <p:ph idx="15" hasCustomPrompt="1"/>
          </p:nvPr>
        </p:nvSpPr>
        <p:spPr>
          <a:xfrm>
            <a:off x="1166088" y="2652713"/>
            <a:ext cx="5394959" cy="3436936"/>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4">
            <a:extLst>
              <a:ext uri="{FF2B5EF4-FFF2-40B4-BE49-F238E27FC236}">
                <a16:creationId xmlns:a16="http://schemas.microsoft.com/office/drawing/2014/main" id="{D976D8D6-3BDC-1908-3425-FEE3EEF51A26}"/>
              </a:ext>
            </a:extLst>
          </p:cNvPr>
          <p:cNvSpPr>
            <a:spLocks noGrp="1"/>
          </p:cNvSpPr>
          <p:nvPr>
            <p:ph type="pic" sz="quarter" idx="14"/>
          </p:nvPr>
        </p:nvSpPr>
        <p:spPr>
          <a:xfrm>
            <a:off x="7317920" y="1447800"/>
            <a:ext cx="4214010" cy="421401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193030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SmartArt 2">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457200"/>
            <a:ext cx="9692640" cy="1371600"/>
          </a:xfrm>
        </p:spPr>
        <p:txBody>
          <a:bodyPr anchor="b">
            <a:noAutofit/>
          </a:bodyPr>
          <a:lstStyle>
            <a:lvl1pPr>
              <a:defRPr sz="4200" b="1">
                <a:latin typeface="+mj-lt"/>
              </a:defRPr>
            </a:lvl1pPr>
          </a:lstStyle>
          <a:p>
            <a:r>
              <a:rPr lang="en-US" dirty="0"/>
              <a:t>Click to add title</a:t>
            </a:r>
          </a:p>
        </p:txBody>
      </p:sp>
      <p:sp>
        <p:nvSpPr>
          <p:cNvPr id="4" name="Content Placeholder 2">
            <a:extLst>
              <a:ext uri="{FF2B5EF4-FFF2-40B4-BE49-F238E27FC236}">
                <a16:creationId xmlns:a16="http://schemas.microsoft.com/office/drawing/2014/main" id="{C45E425B-455F-127B-1647-045FD094F15D}"/>
              </a:ext>
            </a:extLst>
          </p:cNvPr>
          <p:cNvSpPr>
            <a:spLocks noGrp="1"/>
          </p:cNvSpPr>
          <p:nvPr>
            <p:ph idx="10" hasCustomPrompt="1"/>
          </p:nvPr>
        </p:nvSpPr>
        <p:spPr>
          <a:xfrm>
            <a:off x="1167493" y="2087561"/>
            <a:ext cx="2693306" cy="3890543"/>
          </a:xfrm>
        </p:spPr>
        <p:txBody>
          <a:bodyPr>
            <a:noAutofit/>
          </a:bodyPr>
          <a:lstStyle>
            <a:lvl1pPr marL="0" indent="0">
              <a:buNone/>
              <a:defRPr sz="2000">
                <a:latin typeface="+mn-lt"/>
              </a:defRPr>
            </a:lvl1pPr>
            <a:lvl2pPr marL="457200" indent="0">
              <a:buNone/>
              <a:defRPr sz="2000">
                <a:latin typeface="+mn-lt"/>
              </a:defRPr>
            </a:lvl2pPr>
            <a:lvl3pPr marL="914400" indent="0">
              <a:buNone/>
              <a:defRPr sz="2000">
                <a:latin typeface="+mn-lt"/>
              </a:defRPr>
            </a:lvl3pPr>
            <a:lvl4pPr marL="1371600" indent="0">
              <a:buNone/>
              <a:defRPr sz="2000">
                <a:latin typeface="+mn-lt"/>
              </a:defRPr>
            </a:lvl4pPr>
            <a:lvl5pPr marL="1828800" indent="0">
              <a:buNone/>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4216400" y="2087563"/>
            <a:ext cx="6730274" cy="389054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827098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and Content and Image 2">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79F46B00-4AE8-52A2-6926-FC2F5DD1FAD4}"/>
              </a:ext>
              <a:ext uri="{C183D7F6-B498-43B3-948B-1728B52AA6E4}">
                <adec:decorative xmlns:adec="http://schemas.microsoft.com/office/drawing/2017/decorative" val="1"/>
              </a:ext>
            </a:extLst>
          </p:cNvPr>
          <p:cNvGrpSpPr/>
          <p:nvPr userDrawn="1"/>
        </p:nvGrpSpPr>
        <p:grpSpPr>
          <a:xfrm>
            <a:off x="-2364" y="0"/>
            <a:ext cx="12194364" cy="6858000"/>
            <a:chOff x="-2364" y="0"/>
            <a:chExt cx="12194364"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rot="5400000">
              <a:off x="8580896" y="0"/>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a:off x="-2364"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2587417"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549489" y="457199"/>
            <a:ext cx="5943599" cy="1920240"/>
          </a:xfrm>
        </p:spPr>
        <p:txBody>
          <a:bodyPr anchor="b">
            <a:noAutofit/>
          </a:bodyPr>
          <a:lstStyle>
            <a:lvl1pPr>
              <a:defRPr sz="4200" b="1">
                <a:latin typeface="+mj-lt"/>
              </a:defRPr>
            </a:lvl1pPr>
          </a:lstStyle>
          <a:p>
            <a:r>
              <a:rPr lang="en-US" dirty="0"/>
              <a:t>Click to add title</a:t>
            </a:r>
          </a:p>
        </p:txBody>
      </p:sp>
      <p:sp>
        <p:nvSpPr>
          <p:cNvPr id="15" name="Content Placeholder 2">
            <a:extLst>
              <a:ext uri="{FF2B5EF4-FFF2-40B4-BE49-F238E27FC236}">
                <a16:creationId xmlns:a16="http://schemas.microsoft.com/office/drawing/2014/main" id="{6BBDFA0C-B372-969D-6C8A-F664A4BF8D41}"/>
              </a:ext>
            </a:extLst>
          </p:cNvPr>
          <p:cNvSpPr>
            <a:spLocks noGrp="1" noChangeAspect="1"/>
          </p:cNvSpPr>
          <p:nvPr>
            <p:ph idx="17" hasCustomPrompt="1"/>
          </p:nvPr>
        </p:nvSpPr>
        <p:spPr>
          <a:xfrm>
            <a:off x="823108" y="640080"/>
            <a:ext cx="4297680" cy="4297680"/>
          </a:xfrm>
          <a:prstGeom prst="ellipse">
            <a:avLst/>
          </a:prstGeom>
          <a:solidFill>
            <a:schemeClr val="accent2"/>
          </a:solidFill>
        </p:spPr>
        <p:txBody>
          <a:bodyPr anchor="ctr" anchorCtr="0">
            <a:noAutofit/>
          </a:bodyPr>
          <a:lstStyle>
            <a:lvl1pPr marL="0" indent="0" algn="ctr">
              <a:buFont typeface="Arial" panose="020B0604020202020204" pitchFamily="34" charset="0"/>
              <a:buNone/>
              <a:defRPr sz="2000">
                <a:latin typeface="+mn-lt"/>
              </a:defRPr>
            </a:lvl1pPr>
            <a:lvl2pPr marL="347663" indent="0" algn="ctr">
              <a:buFont typeface="Arial" panose="020B0604020202020204" pitchFamily="34" charset="0"/>
              <a:buNone/>
              <a:defRPr sz="2000">
                <a:latin typeface="+mn-lt"/>
              </a:defRPr>
            </a:lvl2pPr>
            <a:lvl3pPr marL="685800" indent="0" algn="ctr">
              <a:buFont typeface="Arial" panose="020B0604020202020204" pitchFamily="34" charset="0"/>
              <a:buNone/>
              <a:defRPr sz="2000">
                <a:latin typeface="+mn-lt"/>
              </a:defRPr>
            </a:lvl3pPr>
            <a:lvl4pPr marL="914400" indent="0" algn="ctr">
              <a:buFont typeface="Arial" panose="020B0604020202020204" pitchFamily="34" charset="0"/>
              <a:buNone/>
              <a:defRPr sz="2000">
                <a:latin typeface="+mn-lt"/>
              </a:defRPr>
            </a:lvl4pPr>
            <a:lvl5pPr marL="1143000" indent="0" algn="ctr">
              <a:buFont typeface="Arial" panose="020B0604020202020204" pitchFamily="34" charset="0"/>
              <a:buNone/>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67114"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
        <p:nvSpPr>
          <p:cNvPr id="3" name="Content Placeholder 2">
            <a:extLst>
              <a:ext uri="{FF2B5EF4-FFF2-40B4-BE49-F238E27FC236}">
                <a16:creationId xmlns:a16="http://schemas.microsoft.com/office/drawing/2014/main" id="{99A8D2CC-EE75-85FA-1577-88C0BEC7B10C}"/>
              </a:ext>
            </a:extLst>
          </p:cNvPr>
          <p:cNvSpPr>
            <a:spLocks noGrp="1"/>
          </p:cNvSpPr>
          <p:nvPr>
            <p:ph idx="15" hasCustomPrompt="1"/>
          </p:nvPr>
        </p:nvSpPr>
        <p:spPr>
          <a:xfrm>
            <a:off x="5549490" y="2706369"/>
            <a:ext cx="5943600" cy="3383279"/>
          </a:xfrm>
        </p:spPr>
        <p:txBody>
          <a:bodyPr>
            <a:normAutofit/>
          </a:bodyPr>
          <a:lstStyle>
            <a:lvl1pPr marL="283464" indent="-283464">
              <a:spcBef>
                <a:spcPts val="1000"/>
              </a:spcBef>
              <a:buFont typeface="Arial" panose="020B0604020202020204" pitchFamily="34" charset="0"/>
              <a:buChar char="•"/>
              <a:defRPr sz="2000">
                <a:solidFill>
                  <a:schemeClr val="tx1"/>
                </a:solidFill>
                <a:latin typeface="+mn-lt"/>
              </a:defRPr>
            </a:lvl1pPr>
            <a:lvl2pPr marL="566928" indent="-283464">
              <a:spcBef>
                <a:spcPts val="1000"/>
              </a:spcBef>
              <a:buFont typeface="Arial" panose="020B0604020202020204" pitchFamily="34" charset="0"/>
              <a:buChar char="•"/>
              <a:defRPr sz="2000">
                <a:solidFill>
                  <a:schemeClr val="tx1"/>
                </a:solidFill>
                <a:latin typeface="+mn-lt"/>
              </a:defRPr>
            </a:lvl2pPr>
            <a:lvl3pPr marL="850392" indent="-283464">
              <a:spcBef>
                <a:spcPts val="1000"/>
              </a:spcBef>
              <a:buFont typeface="Arial" panose="020B0604020202020204" pitchFamily="34" charset="0"/>
              <a:buChar char="•"/>
              <a:defRPr sz="2000">
                <a:solidFill>
                  <a:schemeClr val="tx1"/>
                </a:solidFill>
                <a:latin typeface="+mn-lt"/>
              </a:defRPr>
            </a:lvl3pPr>
            <a:lvl4pPr marL="1133856" indent="-283464">
              <a:spcBef>
                <a:spcPts val="1000"/>
              </a:spcBef>
              <a:buFont typeface="Arial" panose="020B0604020202020204" pitchFamily="34" charset="0"/>
              <a:buChar char="•"/>
              <a:defRPr sz="2000">
                <a:solidFill>
                  <a:schemeClr val="tx1"/>
                </a:solidFill>
                <a:latin typeface="+mn-lt"/>
              </a:defRPr>
            </a:lvl4pPr>
            <a:lvl5pPr marL="1463040" indent="-283464">
              <a:spcBef>
                <a:spcPts val="1000"/>
              </a:spcBef>
              <a:buFont typeface="Arial" panose="020B0604020202020204" pitchFamily="34" charset="0"/>
              <a:buChar char="•"/>
              <a:defRPr sz="2000">
                <a:solidFill>
                  <a:schemeClr val="tx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25656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Chart ">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1909451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anchor="b">
            <a:noAutofit/>
          </a:bodyPr>
          <a:lstStyle>
            <a:lvl1pPr algn="l">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anchor="t" anchorCtr="0">
            <a:norm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1" r:id="rId4"/>
    <p:sldLayoutId id="2147483659" r:id="rId5"/>
    <p:sldLayoutId id="2147483668" r:id="rId6"/>
    <p:sldLayoutId id="2147483669" r:id="rId7"/>
    <p:sldLayoutId id="2147483675" r:id="rId8"/>
    <p:sldLayoutId id="2147483677" r:id="rId9"/>
    <p:sldLayoutId id="2147483676" r:id="rId10"/>
    <p:sldLayoutId id="2147483661" r:id="rId11"/>
    <p:sldLayoutId id="2147483666" r:id="rId12"/>
  </p:sldLayoutIdLst>
  <p:hf sldNum="0" hdr="0" ftr="0" dt="0"/>
  <p:txStyles>
    <p:titleStyle>
      <a:lvl1pPr algn="l"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hyperlink" Target="https://ncmedsoc.org/do-your-patients-trust-you-if-not-you-could-be-making-them-sicker/"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hyperlink" Target="https://huggingface.co/cBioPorta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hyperlink" Target="https://www.careerstaff.com/healthcare-staffing-blog/benefits-of-patient-centered-care-for-healthcare-employers/"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www.cbioportal.org/study/summary?id=msk_chord_2024" TargetMode="External"/><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title"/>
          </p:nvPr>
        </p:nvSpPr>
        <p:spPr>
          <a:xfrm>
            <a:off x="1167492" y="1371600"/>
            <a:ext cx="5486400" cy="4114800"/>
          </a:xfrm>
        </p:spPr>
        <p:txBody>
          <a:bodyPr anchor="ctr">
            <a:normAutofit/>
          </a:bodyPr>
          <a:lstStyle/>
          <a:p>
            <a:r>
              <a:rPr lang="en-US" sz="5100" dirty="0"/>
              <a:t>Pancreatic Cancer Risk Identification and Treatment Recommendation</a:t>
            </a:r>
          </a:p>
        </p:txBody>
      </p:sp>
      <p:pic>
        <p:nvPicPr>
          <p:cNvPr id="4" name="Picture Placeholder 3">
            <a:extLst>
              <a:ext uri="{FF2B5EF4-FFF2-40B4-BE49-F238E27FC236}">
                <a16:creationId xmlns:a16="http://schemas.microsoft.com/office/drawing/2014/main" id="{2C7B62CB-ECB0-EE6B-4986-AE53C624026D}"/>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l="11745" r="11745"/>
          <a:stretch/>
        </p:blipFill>
        <p:spPr>
          <a:xfrm>
            <a:off x="7183438" y="1168400"/>
            <a:ext cx="4500562" cy="4521200"/>
          </a:xfrm>
          <a:noFill/>
        </p:spPr>
      </p:pic>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DF9E134-98AA-3ECE-E40A-180C85ACD7D5}"/>
              </a:ext>
            </a:extLst>
          </p:cNvPr>
          <p:cNvSpPr>
            <a:spLocks noGrp="1"/>
          </p:cNvSpPr>
          <p:nvPr>
            <p:ph type="title"/>
          </p:nvPr>
        </p:nvSpPr>
        <p:spPr>
          <a:xfrm>
            <a:off x="1167492" y="136526"/>
            <a:ext cx="9601200" cy="1653371"/>
          </a:xfrm>
        </p:spPr>
        <p:txBody>
          <a:bodyPr/>
          <a:lstStyle/>
          <a:p>
            <a:r>
              <a:rPr lang="en-US" dirty="0"/>
              <a:t>Introduction and Background</a:t>
            </a:r>
          </a:p>
        </p:txBody>
      </p:sp>
      <p:sp>
        <p:nvSpPr>
          <p:cNvPr id="3" name="Content Placeholder 2">
            <a:extLst>
              <a:ext uri="{FF2B5EF4-FFF2-40B4-BE49-F238E27FC236}">
                <a16:creationId xmlns:a16="http://schemas.microsoft.com/office/drawing/2014/main" id="{D1455C0B-19FB-954B-532A-0A68CAC4E0E4}"/>
              </a:ext>
            </a:extLst>
          </p:cNvPr>
          <p:cNvSpPr>
            <a:spLocks noGrp="1"/>
          </p:cNvSpPr>
          <p:nvPr>
            <p:ph idx="1"/>
          </p:nvPr>
        </p:nvSpPr>
        <p:spPr>
          <a:xfrm>
            <a:off x="1162866" y="2025570"/>
            <a:ext cx="9866267" cy="3721389"/>
          </a:xfrm>
        </p:spPr>
        <p:txBody>
          <a:bodyPr>
            <a:normAutofit fontScale="92500" lnSpcReduction="10000"/>
          </a:bodyPr>
          <a:lstStyle/>
          <a:p>
            <a:r>
              <a:rPr lang="en-US" sz="2400" dirty="0"/>
              <a:t>Pancreatic cancer is one of the deadliest cancers, with a </a:t>
            </a:r>
            <a:r>
              <a:rPr lang="en-US" sz="2400" b="1" dirty="0"/>
              <a:t>5-year survival rate </a:t>
            </a:r>
            <a:r>
              <a:rPr lang="en-US" sz="2400" dirty="0"/>
              <a:t>below </a:t>
            </a:r>
            <a:r>
              <a:rPr lang="en-US" sz="2400" b="1" dirty="0"/>
              <a:t>10% </a:t>
            </a:r>
            <a:r>
              <a:rPr lang="en-US" sz="2400" dirty="0"/>
              <a:t>due to late diagnosis and rapid progression.</a:t>
            </a:r>
            <a:br>
              <a:rPr lang="en-US" sz="2400" dirty="0"/>
            </a:br>
            <a:r>
              <a:rPr lang="en-US" sz="2400" dirty="0"/>
              <a:t>Currently, it's difficult for doctors to accurately predict patient survival at diagnosis, which limits treatment planning and resource allocation.</a:t>
            </a:r>
          </a:p>
          <a:p>
            <a:endParaRPr lang="en-US" sz="2400" dirty="0"/>
          </a:p>
          <a:p>
            <a:r>
              <a:rPr lang="en-US" sz="2400" b="1" dirty="0"/>
              <a:t>Problem statement:</a:t>
            </a:r>
          </a:p>
          <a:p>
            <a:r>
              <a:rPr lang="en-US" sz="2400" dirty="0"/>
              <a:t>Our project aims to build a machine learning model to predict survival outcomes in pancreatic cancer patients.</a:t>
            </a:r>
            <a:br>
              <a:rPr lang="en-US" sz="2400" dirty="0"/>
            </a:br>
            <a:r>
              <a:rPr lang="en-US" sz="2400" dirty="0"/>
              <a:t>This tool will help identify high-risk individuals early, support personalized treatment decisions, and guide patient selection for advanced therapies or clinical trials.</a:t>
            </a:r>
          </a:p>
        </p:txBody>
      </p:sp>
    </p:spTree>
    <p:extLst>
      <p:ext uri="{BB962C8B-B14F-4D97-AF65-F5344CB8AC3E}">
        <p14:creationId xmlns:p14="http://schemas.microsoft.com/office/powerpoint/2010/main" val="1265939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EF58C-138C-55F4-DA77-4C3F06C81A1C}"/>
              </a:ext>
            </a:extLst>
          </p:cNvPr>
          <p:cNvSpPr>
            <a:spLocks noGrp="1"/>
          </p:cNvSpPr>
          <p:nvPr>
            <p:ph type="title"/>
          </p:nvPr>
        </p:nvSpPr>
        <p:spPr>
          <a:xfrm>
            <a:off x="1167492" y="457200"/>
            <a:ext cx="10643508" cy="1371600"/>
          </a:xfrm>
        </p:spPr>
        <p:txBody>
          <a:bodyPr/>
          <a:lstStyle/>
          <a:p>
            <a:r>
              <a:rPr lang="en-US" dirty="0"/>
              <a:t>Data Understanding</a:t>
            </a:r>
          </a:p>
        </p:txBody>
      </p:sp>
      <p:sp>
        <p:nvSpPr>
          <p:cNvPr id="3" name="Content Placeholder 2">
            <a:extLst>
              <a:ext uri="{FF2B5EF4-FFF2-40B4-BE49-F238E27FC236}">
                <a16:creationId xmlns:a16="http://schemas.microsoft.com/office/drawing/2014/main" id="{9B5DDE7C-335B-FD23-E1E6-CDCB99B7878C}"/>
              </a:ext>
            </a:extLst>
          </p:cNvPr>
          <p:cNvSpPr>
            <a:spLocks noGrp="1"/>
          </p:cNvSpPr>
          <p:nvPr>
            <p:ph idx="15"/>
          </p:nvPr>
        </p:nvSpPr>
        <p:spPr>
          <a:xfrm>
            <a:off x="1167492" y="2536966"/>
            <a:ext cx="5872037" cy="3979581"/>
          </a:xfrm>
        </p:spPr>
        <p:txBody>
          <a:bodyPr>
            <a:normAutofit/>
          </a:bodyPr>
          <a:lstStyle/>
          <a:p>
            <a:r>
              <a:rPr lang="en-US" dirty="0"/>
              <a:t>The dataset is sourced from the MSK-CHORD 2024 clinical-genomic database, comprising over 25,000 tumors from 24,950 patients sequenced via </a:t>
            </a:r>
            <a:r>
              <a:rPr lang="en-US" b="1" dirty="0"/>
              <a:t>MSK-IMPACT</a:t>
            </a:r>
            <a:r>
              <a:rPr lang="en-US" dirty="0"/>
              <a:t>.</a:t>
            </a:r>
          </a:p>
          <a:p>
            <a:r>
              <a:rPr lang="en-US" dirty="0"/>
              <a:t>The dataset had;</a:t>
            </a:r>
          </a:p>
          <a:p>
            <a:pPr marL="342900" indent="-342900">
              <a:buFont typeface="Arial" panose="020B0604020202020204" pitchFamily="34" charset="0"/>
              <a:buChar char="•"/>
            </a:pPr>
            <a:r>
              <a:rPr lang="en-US" dirty="0"/>
              <a:t>A total of 25040 rows and 53 columns</a:t>
            </a:r>
          </a:p>
          <a:p>
            <a:pPr marL="342900" indent="-342900">
              <a:buFont typeface="Arial" panose="020B0604020202020204" pitchFamily="34" charset="0"/>
              <a:buChar char="•"/>
            </a:pPr>
            <a:r>
              <a:rPr lang="en-US" dirty="0"/>
              <a:t>Columns include Current Age, Fraction Genome Altered, Gleason Score, MSI Score, Mutation Count, Number of Tumor Registry Entries, Overall Survival, Number of Samples per Patient, Sample Coverage, Tumor Mutational Burden (TMB), Tumor Purity etc.</a:t>
            </a:r>
          </a:p>
          <a:p>
            <a:pPr marL="342900" indent="-342900">
              <a:buFont typeface="Arial" panose="020B0604020202020204" pitchFamily="34" charset="0"/>
              <a:buChar char="•"/>
            </a:pPr>
            <a:endParaRPr lang="en-US" dirty="0"/>
          </a:p>
        </p:txBody>
      </p:sp>
      <p:pic>
        <p:nvPicPr>
          <p:cNvPr id="25" name="Picture Placeholder 24">
            <a:extLst>
              <a:ext uri="{FF2B5EF4-FFF2-40B4-BE49-F238E27FC236}">
                <a16:creationId xmlns:a16="http://schemas.microsoft.com/office/drawing/2014/main" id="{E57751D1-D655-B1C0-2407-A8826F551024}"/>
              </a:ext>
            </a:extLst>
          </p:cNvPr>
          <p:cNvPicPr>
            <a:picLocks noGrp="1" noChangeAspect="1"/>
          </p:cNvPicPr>
          <p:nvPr>
            <p:ph type="pic" sz="quarter" idx="14"/>
          </p:nvPr>
        </p:nvPicPr>
        <p:blipFill>
          <a:blip r:embed="rId3">
            <a:extLst>
              <a:ext uri="{837473B0-CC2E-450A-ABE3-18F120FF3D39}">
                <a1611:picAttrSrcUrl xmlns:a1611="http://schemas.microsoft.com/office/drawing/2016/11/main" r:id="rId4"/>
              </a:ext>
            </a:extLst>
          </a:blip>
          <a:srcRect l="27800" t="1750" r="28315" b="16984"/>
          <a:stretch>
            <a:fillRect/>
          </a:stretch>
        </p:blipFill>
        <p:spPr>
          <a:xfrm>
            <a:off x="7317920" y="1447800"/>
            <a:ext cx="4214010" cy="4214010"/>
          </a:xfrm>
        </p:spPr>
      </p:pic>
    </p:spTree>
    <p:extLst>
      <p:ext uri="{BB962C8B-B14F-4D97-AF65-F5344CB8AC3E}">
        <p14:creationId xmlns:p14="http://schemas.microsoft.com/office/powerpoint/2010/main" val="362649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DD8D1-44C5-7E34-700C-4245BCB998E6}"/>
              </a:ext>
            </a:extLst>
          </p:cNvPr>
          <p:cNvSpPr>
            <a:spLocks noGrp="1"/>
          </p:cNvSpPr>
          <p:nvPr>
            <p:ph type="title"/>
          </p:nvPr>
        </p:nvSpPr>
        <p:spPr>
          <a:xfrm>
            <a:off x="1167492" y="136527"/>
            <a:ext cx="9601200" cy="1275714"/>
          </a:xfrm>
        </p:spPr>
        <p:txBody>
          <a:bodyPr/>
          <a:lstStyle/>
          <a:p>
            <a:r>
              <a:rPr lang="en-US" dirty="0"/>
              <a:t>Cleaning and Preprocessing</a:t>
            </a:r>
          </a:p>
        </p:txBody>
      </p:sp>
      <p:sp>
        <p:nvSpPr>
          <p:cNvPr id="3" name="Content Placeholder 2">
            <a:extLst>
              <a:ext uri="{FF2B5EF4-FFF2-40B4-BE49-F238E27FC236}">
                <a16:creationId xmlns:a16="http://schemas.microsoft.com/office/drawing/2014/main" id="{48C51CE3-4476-77BC-489B-AE9FA8136B47}"/>
              </a:ext>
            </a:extLst>
          </p:cNvPr>
          <p:cNvSpPr>
            <a:spLocks noGrp="1"/>
          </p:cNvSpPr>
          <p:nvPr>
            <p:ph idx="1"/>
          </p:nvPr>
        </p:nvSpPr>
        <p:spPr>
          <a:xfrm>
            <a:off x="1167492" y="1727200"/>
            <a:ext cx="4928507" cy="4395807"/>
          </a:xfrm>
        </p:spPr>
        <p:txBody>
          <a:bodyPr>
            <a:normAutofit fontScale="92500" lnSpcReduction="20000"/>
          </a:bodyPr>
          <a:lstStyle/>
          <a:p>
            <a:r>
              <a:rPr lang="en-US" sz="2200" dirty="0"/>
              <a:t>We filtered dataset to include only pancreatic cancer patients with 3,109 records left.</a:t>
            </a:r>
          </a:p>
          <a:p>
            <a:r>
              <a:rPr lang="en-US" sz="2200" dirty="0"/>
              <a:t>Dropped irrelevant columns and retained 19 features focused on survival analysis.</a:t>
            </a:r>
          </a:p>
          <a:p>
            <a:endParaRPr lang="en-US" dirty="0"/>
          </a:p>
          <a:p>
            <a:r>
              <a:rPr lang="en-US" sz="2400" b="1" dirty="0"/>
              <a:t>Selected Features:</a:t>
            </a:r>
            <a:br>
              <a:rPr lang="en-US" sz="2400" dirty="0"/>
            </a:br>
            <a:r>
              <a:rPr lang="en-US" sz="2400" dirty="0"/>
              <a:t>Patient ID, Sample ID, Cancer Type, Cancer Type Detailed, Overall Survival (Months), Overall Survival Status, Clinical Summary, Primary Tumor Site</a:t>
            </a:r>
            <a:br>
              <a:rPr lang="en-US" sz="2400" dirty="0"/>
            </a:br>
            <a:r>
              <a:rPr lang="en-US" sz="2400" dirty="0"/>
              <a:t>Current Age, Sex, Race, Ethnicity, Smoking History, Stage (Highest Recorded), Metastatic Site</a:t>
            </a:r>
            <a:br>
              <a:rPr lang="en-US" sz="2400" dirty="0"/>
            </a:br>
            <a:r>
              <a:rPr lang="en-US" sz="2400" dirty="0"/>
              <a:t>Tumor Purity, TMB, Mutation Count, Fraction Genome Altered</a:t>
            </a:r>
          </a:p>
        </p:txBody>
      </p:sp>
      <p:sp>
        <p:nvSpPr>
          <p:cNvPr id="4" name="Content Placeholder 3">
            <a:extLst>
              <a:ext uri="{FF2B5EF4-FFF2-40B4-BE49-F238E27FC236}">
                <a16:creationId xmlns:a16="http://schemas.microsoft.com/office/drawing/2014/main" id="{EC8CCE9D-BE62-3E62-683F-97BD20547410}"/>
              </a:ext>
            </a:extLst>
          </p:cNvPr>
          <p:cNvSpPr>
            <a:spLocks noGrp="1"/>
          </p:cNvSpPr>
          <p:nvPr>
            <p:ph idx="10"/>
          </p:nvPr>
        </p:nvSpPr>
        <p:spPr>
          <a:xfrm>
            <a:off x="6096000" y="1727201"/>
            <a:ext cx="5050420" cy="4395806"/>
          </a:xfrm>
        </p:spPr>
        <p:txBody>
          <a:bodyPr/>
          <a:lstStyle/>
          <a:p>
            <a:r>
              <a:rPr lang="en-US" dirty="0"/>
              <a:t>Identified missing values in 5 key columns:</a:t>
            </a:r>
          </a:p>
          <a:p>
            <a:pPr marL="342900" indent="-342900">
              <a:buFont typeface="Arial" panose="020B0604020202020204" pitchFamily="34" charset="0"/>
              <a:buChar char="•"/>
            </a:pPr>
            <a:r>
              <a:rPr lang="en-US" dirty="0"/>
              <a:t>Clinical Summary, Metastatic Site was filled with "N/A" </a:t>
            </a:r>
          </a:p>
          <a:p>
            <a:pPr marL="342900" indent="-342900">
              <a:buFont typeface="Arial" panose="020B0604020202020204" pitchFamily="34" charset="0"/>
              <a:buChar char="•"/>
            </a:pPr>
            <a:r>
              <a:rPr lang="en-US" dirty="0"/>
              <a:t>Tumor Purity, Mutation Count, Fraction Genome Altered filled with column mean.</a:t>
            </a:r>
          </a:p>
          <a:p>
            <a:endParaRPr lang="en-US" dirty="0"/>
          </a:p>
        </p:txBody>
      </p:sp>
    </p:spTree>
    <p:extLst>
      <p:ext uri="{BB962C8B-B14F-4D97-AF65-F5344CB8AC3E}">
        <p14:creationId xmlns:p14="http://schemas.microsoft.com/office/powerpoint/2010/main" val="2237754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46F4E-7E80-96DD-5EB2-A97CF6AA7938}"/>
              </a:ext>
            </a:extLst>
          </p:cNvPr>
          <p:cNvSpPr>
            <a:spLocks noGrp="1"/>
          </p:cNvSpPr>
          <p:nvPr>
            <p:ph type="title"/>
          </p:nvPr>
        </p:nvSpPr>
        <p:spPr>
          <a:xfrm>
            <a:off x="1086212" y="-645794"/>
            <a:ext cx="9601200" cy="1499234"/>
          </a:xfrm>
        </p:spPr>
        <p:txBody>
          <a:bodyPr anchor="b">
            <a:normAutofit/>
          </a:bodyPr>
          <a:lstStyle/>
          <a:p>
            <a:r>
              <a:rPr lang="en-US" dirty="0"/>
              <a:t>Exploratory Data Analysis (EDA)</a:t>
            </a:r>
          </a:p>
        </p:txBody>
      </p:sp>
      <p:pic>
        <p:nvPicPr>
          <p:cNvPr id="5" name="Content Placeholder 4">
            <a:extLst>
              <a:ext uri="{FF2B5EF4-FFF2-40B4-BE49-F238E27FC236}">
                <a16:creationId xmlns:a16="http://schemas.microsoft.com/office/drawing/2014/main" id="{D10533B4-2198-87BF-7FDB-E45F6E7D0190}"/>
              </a:ext>
            </a:extLst>
          </p:cNvPr>
          <p:cNvPicPr>
            <a:picLocks noGrp="1" noChangeAspect="1"/>
          </p:cNvPicPr>
          <p:nvPr>
            <p:ph idx="1"/>
          </p:nvPr>
        </p:nvPicPr>
        <p:blipFill>
          <a:blip r:embed="rId2"/>
          <a:stretch>
            <a:fillRect/>
          </a:stretch>
        </p:blipFill>
        <p:spPr>
          <a:xfrm>
            <a:off x="492965" y="1290321"/>
            <a:ext cx="5749630" cy="4441589"/>
          </a:xfrm>
          <a:noFill/>
        </p:spPr>
      </p:pic>
      <p:sp>
        <p:nvSpPr>
          <p:cNvPr id="8" name="Content Placeholder 7">
            <a:extLst>
              <a:ext uri="{FF2B5EF4-FFF2-40B4-BE49-F238E27FC236}">
                <a16:creationId xmlns:a16="http://schemas.microsoft.com/office/drawing/2014/main" id="{0B10BD09-E0F6-BD69-2A84-A50818870328}"/>
              </a:ext>
            </a:extLst>
          </p:cNvPr>
          <p:cNvSpPr>
            <a:spLocks noGrp="1"/>
          </p:cNvSpPr>
          <p:nvPr>
            <p:ph idx="10"/>
          </p:nvPr>
        </p:nvSpPr>
        <p:spPr>
          <a:xfrm>
            <a:off x="6242595" y="2081129"/>
            <a:ext cx="4663440" cy="3486550"/>
          </a:xfrm>
        </p:spPr>
        <p:txBody>
          <a:bodyPr>
            <a:normAutofit/>
          </a:bodyPr>
          <a:lstStyle/>
          <a:p>
            <a:r>
              <a:rPr lang="en-US" dirty="0"/>
              <a:t>This chart shows that the majority of deaths are in the first few months of diagnosis. From approximately 0 up to 20 Months.</a:t>
            </a:r>
          </a:p>
          <a:p>
            <a:r>
              <a:rPr lang="en-US" dirty="0"/>
              <a:t>However, after this period, the number of living is higher than deaths, with some reaching past 60 Months.</a:t>
            </a:r>
          </a:p>
          <a:p>
            <a:r>
              <a:rPr lang="en-US" dirty="0"/>
              <a:t>Therefore, an average patient has a survival time of 1 Year and 8 months after testing positive for pancreatic cancer.</a:t>
            </a:r>
          </a:p>
        </p:txBody>
      </p:sp>
      <p:sp>
        <p:nvSpPr>
          <p:cNvPr id="9" name="Title 1">
            <a:extLst>
              <a:ext uri="{FF2B5EF4-FFF2-40B4-BE49-F238E27FC236}">
                <a16:creationId xmlns:a16="http://schemas.microsoft.com/office/drawing/2014/main" id="{51729D9C-2DC8-D6CC-8C2C-6E4FDFF87FDD}"/>
              </a:ext>
            </a:extLst>
          </p:cNvPr>
          <p:cNvSpPr txBox="1">
            <a:spLocks/>
          </p:cNvSpPr>
          <p:nvPr/>
        </p:nvSpPr>
        <p:spPr>
          <a:xfrm>
            <a:off x="6242595" y="1423788"/>
            <a:ext cx="4048035" cy="523874"/>
          </a:xfrm>
          <a:prstGeom prst="rect">
            <a:avLst/>
          </a:prstGeom>
        </p:spPr>
        <p:txBody>
          <a:bodyPr vert="horz" lIns="91440" tIns="45720" rIns="91440" bIns="45720" rtlCol="0" anchor="b">
            <a:norm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sz="2400" dirty="0"/>
              <a:t>Overall Survival Distribution</a:t>
            </a:r>
          </a:p>
        </p:txBody>
      </p:sp>
    </p:spTree>
    <p:extLst>
      <p:ext uri="{BB962C8B-B14F-4D97-AF65-F5344CB8AC3E}">
        <p14:creationId xmlns:p14="http://schemas.microsoft.com/office/powerpoint/2010/main" val="2197166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8929100C-58B0-B029-666D-7408F4C9F464}"/>
              </a:ext>
            </a:extLst>
          </p:cNvPr>
          <p:cNvSpPr>
            <a:spLocks noGrp="1"/>
          </p:cNvSpPr>
          <p:nvPr>
            <p:ph type="title"/>
          </p:nvPr>
        </p:nvSpPr>
        <p:spPr>
          <a:xfrm>
            <a:off x="1167492" y="136527"/>
            <a:ext cx="9601200" cy="1204594"/>
          </a:xfrm>
        </p:spPr>
        <p:txBody>
          <a:bodyPr/>
          <a:lstStyle/>
          <a:p>
            <a:r>
              <a:rPr lang="en-US" sz="3200" dirty="0"/>
              <a:t>Cancer stage and Survival Status</a:t>
            </a:r>
          </a:p>
        </p:txBody>
      </p:sp>
      <p:sp>
        <p:nvSpPr>
          <p:cNvPr id="12" name="Content Placeholder 3">
            <a:extLst>
              <a:ext uri="{FF2B5EF4-FFF2-40B4-BE49-F238E27FC236}">
                <a16:creationId xmlns:a16="http://schemas.microsoft.com/office/drawing/2014/main" id="{332565DB-6349-1C83-2D8D-6004F3B43FAA}"/>
              </a:ext>
            </a:extLst>
          </p:cNvPr>
          <p:cNvSpPr>
            <a:spLocks noGrp="1"/>
          </p:cNvSpPr>
          <p:nvPr>
            <p:ph idx="10"/>
          </p:nvPr>
        </p:nvSpPr>
        <p:spPr>
          <a:xfrm>
            <a:off x="6283235" y="1693836"/>
            <a:ext cx="4663440" cy="3662980"/>
          </a:xfrm>
        </p:spPr>
        <p:txBody>
          <a:bodyPr>
            <a:normAutofit/>
          </a:bodyPr>
          <a:lstStyle/>
          <a:p>
            <a:r>
              <a:rPr lang="en-US" dirty="0"/>
              <a:t>The bar chart shows that most patients with Stage 1–3 cancer are living, while fewer have died.</a:t>
            </a:r>
          </a:p>
          <a:p>
            <a:br>
              <a:rPr lang="en-US" dirty="0"/>
            </a:br>
            <a:r>
              <a:rPr lang="en-US" dirty="0"/>
              <a:t>A larger number of patients diagnosed at these stages are still alive, indicating that early detection and treatment may lead to higher chances of survival.</a:t>
            </a:r>
          </a:p>
          <a:p>
            <a:r>
              <a:rPr lang="en-US" dirty="0"/>
              <a:t>It highlights the potential benefit of catching cancer before it progresses to more advanced stages.</a:t>
            </a:r>
          </a:p>
          <a:p>
            <a:endParaRPr lang="en-US" dirty="0"/>
          </a:p>
        </p:txBody>
      </p:sp>
      <p:pic>
        <p:nvPicPr>
          <p:cNvPr id="8" name="Content Placeholder 4">
            <a:extLst>
              <a:ext uri="{FF2B5EF4-FFF2-40B4-BE49-F238E27FC236}">
                <a16:creationId xmlns:a16="http://schemas.microsoft.com/office/drawing/2014/main" id="{F2961B94-ECBC-C9B1-8F34-7F33FD41EE0D}"/>
              </a:ext>
            </a:extLst>
          </p:cNvPr>
          <p:cNvPicPr>
            <a:picLocks noGrp="1" noChangeAspect="1"/>
          </p:cNvPicPr>
          <p:nvPr>
            <p:ph idx="1"/>
          </p:nvPr>
        </p:nvPicPr>
        <p:blipFill>
          <a:blip r:embed="rId2"/>
          <a:stretch>
            <a:fillRect/>
          </a:stretch>
        </p:blipFill>
        <p:spPr>
          <a:xfrm>
            <a:off x="721907" y="1571915"/>
            <a:ext cx="5372971" cy="4087205"/>
          </a:xfrm>
          <a:noFill/>
        </p:spPr>
      </p:pic>
    </p:spTree>
    <p:extLst>
      <p:ext uri="{BB962C8B-B14F-4D97-AF65-F5344CB8AC3E}">
        <p14:creationId xmlns:p14="http://schemas.microsoft.com/office/powerpoint/2010/main" val="921020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graph&#10;&#10;AI-generated content may be incorrect.">
            <a:extLst>
              <a:ext uri="{FF2B5EF4-FFF2-40B4-BE49-F238E27FC236}">
                <a16:creationId xmlns:a16="http://schemas.microsoft.com/office/drawing/2014/main" id="{135F343E-3609-6666-4B33-9DF5FAF209BF}"/>
              </a:ext>
            </a:extLst>
          </p:cNvPr>
          <p:cNvPicPr>
            <a:picLocks noGrp="1" noChangeAspect="1"/>
          </p:cNvPicPr>
          <p:nvPr>
            <p:ph idx="1"/>
          </p:nvPr>
        </p:nvPicPr>
        <p:blipFill>
          <a:blip r:embed="rId2"/>
          <a:stretch>
            <a:fillRect/>
          </a:stretch>
        </p:blipFill>
        <p:spPr>
          <a:xfrm>
            <a:off x="272372" y="1752160"/>
            <a:ext cx="7319099" cy="3604656"/>
          </a:xfrm>
          <a:noFill/>
        </p:spPr>
      </p:pic>
      <p:sp>
        <p:nvSpPr>
          <p:cNvPr id="12" name="Content Placeholder 3">
            <a:extLst>
              <a:ext uri="{FF2B5EF4-FFF2-40B4-BE49-F238E27FC236}">
                <a16:creationId xmlns:a16="http://schemas.microsoft.com/office/drawing/2014/main" id="{589B5F23-E9B1-FA5B-5F5B-FE896E178C3A}"/>
              </a:ext>
            </a:extLst>
          </p:cNvPr>
          <p:cNvSpPr>
            <a:spLocks noGrp="1"/>
          </p:cNvSpPr>
          <p:nvPr>
            <p:ph idx="10"/>
          </p:nvPr>
        </p:nvSpPr>
        <p:spPr>
          <a:xfrm>
            <a:off x="7792721" y="1888072"/>
            <a:ext cx="3133634" cy="3332832"/>
          </a:xfrm>
        </p:spPr>
        <p:txBody>
          <a:bodyPr>
            <a:normAutofit fontScale="92500" lnSpcReduction="10000"/>
          </a:bodyPr>
          <a:lstStyle/>
          <a:p>
            <a:r>
              <a:rPr lang="en-US" dirty="0"/>
              <a:t>This stacked bar chart shows the Top 10 Metastatic Site’s and their link to Survival status.</a:t>
            </a:r>
          </a:p>
          <a:p>
            <a:r>
              <a:rPr lang="en-US" dirty="0"/>
              <a:t>As you can see, the highest for both survival and death is the Liver, next is the Lungs.</a:t>
            </a:r>
          </a:p>
          <a:p>
            <a:r>
              <a:rPr lang="en-US" dirty="0"/>
              <a:t>This means the most common area for pancreatic cancer to spread is the Liver.</a:t>
            </a:r>
          </a:p>
        </p:txBody>
      </p:sp>
      <p:sp>
        <p:nvSpPr>
          <p:cNvPr id="6" name="Title 1">
            <a:extLst>
              <a:ext uri="{FF2B5EF4-FFF2-40B4-BE49-F238E27FC236}">
                <a16:creationId xmlns:a16="http://schemas.microsoft.com/office/drawing/2014/main" id="{549648F4-D6FE-03C6-CB21-8AC9B4BB4C1B}"/>
              </a:ext>
            </a:extLst>
          </p:cNvPr>
          <p:cNvSpPr>
            <a:spLocks noGrp="1"/>
          </p:cNvSpPr>
          <p:nvPr>
            <p:ph type="title"/>
          </p:nvPr>
        </p:nvSpPr>
        <p:spPr>
          <a:xfrm>
            <a:off x="1086212" y="-645794"/>
            <a:ext cx="9601200" cy="1997074"/>
          </a:xfrm>
        </p:spPr>
        <p:txBody>
          <a:bodyPr anchor="b">
            <a:normAutofit/>
          </a:bodyPr>
          <a:lstStyle/>
          <a:p>
            <a:r>
              <a:rPr lang="en-US" sz="3200" dirty="0"/>
              <a:t>Metastatic Site and Survival Status</a:t>
            </a:r>
          </a:p>
        </p:txBody>
      </p:sp>
    </p:spTree>
    <p:extLst>
      <p:ext uri="{BB962C8B-B14F-4D97-AF65-F5344CB8AC3E}">
        <p14:creationId xmlns:p14="http://schemas.microsoft.com/office/powerpoint/2010/main" val="3652330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02FA0-5805-E9D5-E5A1-5B4B485CB096}"/>
              </a:ext>
            </a:extLst>
          </p:cNvPr>
          <p:cNvSpPr>
            <a:spLocks noGrp="1"/>
          </p:cNvSpPr>
          <p:nvPr>
            <p:ph type="title"/>
          </p:nvPr>
        </p:nvSpPr>
        <p:spPr>
          <a:xfrm>
            <a:off x="660400" y="194096"/>
            <a:ext cx="9692640" cy="923504"/>
          </a:xfrm>
        </p:spPr>
        <p:txBody>
          <a:bodyPr/>
          <a:lstStyle/>
          <a:p>
            <a:r>
              <a:rPr lang="en-US" dirty="0"/>
              <a:t>Model Development</a:t>
            </a:r>
          </a:p>
        </p:txBody>
      </p:sp>
      <p:sp>
        <p:nvSpPr>
          <p:cNvPr id="4" name="Content Placeholder 3">
            <a:extLst>
              <a:ext uri="{FF2B5EF4-FFF2-40B4-BE49-F238E27FC236}">
                <a16:creationId xmlns:a16="http://schemas.microsoft.com/office/drawing/2014/main" id="{EAE9A705-E123-1C6C-EC93-CEE377B741CC}"/>
              </a:ext>
            </a:extLst>
          </p:cNvPr>
          <p:cNvSpPr>
            <a:spLocks noGrp="1"/>
          </p:cNvSpPr>
          <p:nvPr>
            <p:ph idx="10"/>
          </p:nvPr>
        </p:nvSpPr>
        <p:spPr>
          <a:xfrm>
            <a:off x="660400" y="1769096"/>
            <a:ext cx="3789679" cy="3890543"/>
          </a:xfrm>
        </p:spPr>
        <p:txBody>
          <a:bodyPr/>
          <a:lstStyle/>
          <a:p>
            <a:r>
              <a:rPr lang="en-US" dirty="0"/>
              <a:t>The best-performing model (</a:t>
            </a:r>
            <a:r>
              <a:rPr lang="en-US" dirty="0" err="1"/>
              <a:t>XGBoost</a:t>
            </a:r>
            <a:r>
              <a:rPr lang="en-US" dirty="0"/>
              <a:t>) achieved high recall for deceased patients (0.93) using a tuned threshold. </a:t>
            </a:r>
          </a:p>
          <a:p>
            <a:r>
              <a:rPr lang="en-US" dirty="0"/>
              <a:t>This demonstrates strong potential to identify patients at higher risk at the point of diagnosis or early treatment.</a:t>
            </a:r>
          </a:p>
          <a:p>
            <a:br>
              <a:rPr lang="en-US" dirty="0"/>
            </a:br>
            <a:endParaRPr lang="en-US" dirty="0"/>
          </a:p>
          <a:p>
            <a:endParaRPr lang="en-US" dirty="0"/>
          </a:p>
        </p:txBody>
      </p:sp>
      <p:graphicFrame>
        <p:nvGraphicFramePr>
          <p:cNvPr id="5" name="Table Placeholder 2">
            <a:extLst>
              <a:ext uri="{FF2B5EF4-FFF2-40B4-BE49-F238E27FC236}">
                <a16:creationId xmlns:a16="http://schemas.microsoft.com/office/drawing/2014/main" id="{FD8D3D14-313E-8ED7-7BE9-2E3D506F17E6}"/>
              </a:ext>
            </a:extLst>
          </p:cNvPr>
          <p:cNvGraphicFramePr>
            <a:graphicFrameLocks noGrp="1"/>
          </p:cNvGraphicFramePr>
          <p:nvPr>
            <p:ph idx="1"/>
            <p:extLst>
              <p:ext uri="{D42A27DB-BD31-4B8C-83A1-F6EECF244321}">
                <p14:modId xmlns:p14="http://schemas.microsoft.com/office/powerpoint/2010/main" val="562092674"/>
              </p:ext>
            </p:extLst>
          </p:nvPr>
        </p:nvGraphicFramePr>
        <p:xfrm>
          <a:off x="4561840" y="1769096"/>
          <a:ext cx="6771640" cy="4527472"/>
        </p:xfrm>
        <a:graphic>
          <a:graphicData uri="http://schemas.openxmlformats.org/drawingml/2006/table">
            <a:tbl>
              <a:tblPr firstRow="1" bandRow="1">
                <a:tableStyleId>{69012ECD-51FC-41F1-AA8D-1B2483CD663E}</a:tableStyleId>
              </a:tblPr>
              <a:tblGrid>
                <a:gridCol w="1692910">
                  <a:extLst>
                    <a:ext uri="{9D8B030D-6E8A-4147-A177-3AD203B41FA5}">
                      <a16:colId xmlns:a16="http://schemas.microsoft.com/office/drawing/2014/main" val="127040821"/>
                    </a:ext>
                  </a:extLst>
                </a:gridCol>
                <a:gridCol w="1692910">
                  <a:extLst>
                    <a:ext uri="{9D8B030D-6E8A-4147-A177-3AD203B41FA5}">
                      <a16:colId xmlns:a16="http://schemas.microsoft.com/office/drawing/2014/main" val="149845700"/>
                    </a:ext>
                  </a:extLst>
                </a:gridCol>
                <a:gridCol w="1692910">
                  <a:extLst>
                    <a:ext uri="{9D8B030D-6E8A-4147-A177-3AD203B41FA5}">
                      <a16:colId xmlns:a16="http://schemas.microsoft.com/office/drawing/2014/main" val="3119692462"/>
                    </a:ext>
                  </a:extLst>
                </a:gridCol>
                <a:gridCol w="1692910">
                  <a:extLst>
                    <a:ext uri="{9D8B030D-6E8A-4147-A177-3AD203B41FA5}">
                      <a16:colId xmlns:a16="http://schemas.microsoft.com/office/drawing/2014/main" val="3472639139"/>
                    </a:ext>
                  </a:extLst>
                </a:gridCol>
              </a:tblGrid>
              <a:tr h="535122">
                <a:tc>
                  <a:txBody>
                    <a:bodyPr/>
                    <a:lstStyle/>
                    <a:p>
                      <a:r>
                        <a:rPr lang="en-US" b="1" dirty="0"/>
                        <a:t>Model</a:t>
                      </a:r>
                      <a:endParaRPr lang="en-US" dirty="0"/>
                    </a:p>
                  </a:txBody>
                  <a:tcPr anchor="ctr"/>
                </a:tc>
                <a:tc>
                  <a:txBody>
                    <a:bodyPr/>
                    <a:lstStyle/>
                    <a:p>
                      <a:r>
                        <a:rPr lang="en-US" b="1" dirty="0"/>
                        <a:t>Precision</a:t>
                      </a:r>
                      <a:endParaRPr lang="en-US" dirty="0"/>
                    </a:p>
                  </a:txBody>
                  <a:tcPr anchor="ctr"/>
                </a:tc>
                <a:tc>
                  <a:txBody>
                    <a:bodyPr/>
                    <a:lstStyle/>
                    <a:p>
                      <a:r>
                        <a:rPr lang="en-US" b="1" dirty="0"/>
                        <a:t>Recall</a:t>
                      </a:r>
                      <a:endParaRPr lang="en-US" dirty="0"/>
                    </a:p>
                  </a:txBody>
                  <a:tcPr anchor="ctr"/>
                </a:tc>
                <a:tc>
                  <a:txBody>
                    <a:bodyPr/>
                    <a:lstStyle/>
                    <a:p>
                      <a:r>
                        <a:rPr lang="en-US" b="1" dirty="0"/>
                        <a:t>F1-Score</a:t>
                      </a:r>
                      <a:endParaRPr lang="en-US" dirty="0"/>
                    </a:p>
                  </a:txBody>
                  <a:tcPr anchor="ctr"/>
                </a:tc>
                <a:extLst>
                  <a:ext uri="{0D108BD9-81ED-4DB2-BD59-A6C34878D82A}">
                    <a16:rowId xmlns:a16="http://schemas.microsoft.com/office/drawing/2014/main" val="3298013591"/>
                  </a:ext>
                </a:extLst>
              </a:tr>
              <a:tr h="611863">
                <a:tc>
                  <a:txBody>
                    <a:bodyPr/>
                    <a:lstStyle/>
                    <a:p>
                      <a:r>
                        <a:rPr lang="en-US"/>
                        <a:t>Logistic Regression</a:t>
                      </a:r>
                    </a:p>
                  </a:txBody>
                  <a:tcPr anchor="ctr"/>
                </a:tc>
                <a:tc>
                  <a:txBody>
                    <a:bodyPr/>
                    <a:lstStyle/>
                    <a:p>
                      <a:r>
                        <a:rPr lang="en-US"/>
                        <a:t>0.67</a:t>
                      </a:r>
                    </a:p>
                  </a:txBody>
                  <a:tcPr anchor="ctr"/>
                </a:tc>
                <a:tc>
                  <a:txBody>
                    <a:bodyPr/>
                    <a:lstStyle/>
                    <a:p>
                      <a:r>
                        <a:rPr lang="en-US"/>
                        <a:t>0.43</a:t>
                      </a:r>
                    </a:p>
                  </a:txBody>
                  <a:tcPr anchor="ctr"/>
                </a:tc>
                <a:tc>
                  <a:txBody>
                    <a:bodyPr/>
                    <a:lstStyle/>
                    <a:p>
                      <a:r>
                        <a:rPr lang="en-US" dirty="0"/>
                        <a:t>0.52</a:t>
                      </a:r>
                    </a:p>
                  </a:txBody>
                  <a:tcPr anchor="ctr"/>
                </a:tc>
                <a:extLst>
                  <a:ext uri="{0D108BD9-81ED-4DB2-BD59-A6C34878D82A}">
                    <a16:rowId xmlns:a16="http://schemas.microsoft.com/office/drawing/2014/main" val="3873867931"/>
                  </a:ext>
                </a:extLst>
              </a:tr>
              <a:tr h="558392">
                <a:tc>
                  <a:txBody>
                    <a:bodyPr/>
                    <a:lstStyle/>
                    <a:p>
                      <a:r>
                        <a:rPr lang="en-US"/>
                        <a:t>Random Forest</a:t>
                      </a:r>
                    </a:p>
                  </a:txBody>
                  <a:tcPr anchor="ctr"/>
                </a:tc>
                <a:tc>
                  <a:txBody>
                    <a:bodyPr/>
                    <a:lstStyle/>
                    <a:p>
                      <a:r>
                        <a:rPr lang="en-US" dirty="0"/>
                        <a:t>0.65</a:t>
                      </a:r>
                    </a:p>
                  </a:txBody>
                  <a:tcPr anchor="ctr"/>
                </a:tc>
                <a:tc>
                  <a:txBody>
                    <a:bodyPr/>
                    <a:lstStyle/>
                    <a:p>
                      <a:r>
                        <a:rPr lang="en-US"/>
                        <a:t>0.52</a:t>
                      </a:r>
                    </a:p>
                  </a:txBody>
                  <a:tcPr anchor="ctr"/>
                </a:tc>
                <a:tc>
                  <a:txBody>
                    <a:bodyPr/>
                    <a:lstStyle/>
                    <a:p>
                      <a:r>
                        <a:rPr lang="en-US"/>
                        <a:t>0.58</a:t>
                      </a:r>
                    </a:p>
                  </a:txBody>
                  <a:tcPr anchor="ctr"/>
                </a:tc>
                <a:extLst>
                  <a:ext uri="{0D108BD9-81ED-4DB2-BD59-A6C34878D82A}">
                    <a16:rowId xmlns:a16="http://schemas.microsoft.com/office/drawing/2014/main" val="85209771"/>
                  </a:ext>
                </a:extLst>
              </a:tr>
              <a:tr h="611863">
                <a:tc>
                  <a:txBody>
                    <a:bodyPr/>
                    <a:lstStyle/>
                    <a:p>
                      <a:r>
                        <a:rPr lang="en-US"/>
                        <a:t>Tuned Random Forest</a:t>
                      </a:r>
                    </a:p>
                  </a:txBody>
                  <a:tcPr anchor="ctr"/>
                </a:tc>
                <a:tc>
                  <a:txBody>
                    <a:bodyPr/>
                    <a:lstStyle/>
                    <a:p>
                      <a:r>
                        <a:rPr lang="en-US"/>
                        <a:t>0.54</a:t>
                      </a:r>
                    </a:p>
                  </a:txBody>
                  <a:tcPr anchor="ctr"/>
                </a:tc>
                <a:tc>
                  <a:txBody>
                    <a:bodyPr/>
                    <a:lstStyle/>
                    <a:p>
                      <a:r>
                        <a:rPr lang="en-US"/>
                        <a:t>0.18</a:t>
                      </a:r>
                    </a:p>
                  </a:txBody>
                  <a:tcPr anchor="ctr"/>
                </a:tc>
                <a:tc>
                  <a:txBody>
                    <a:bodyPr/>
                    <a:lstStyle/>
                    <a:p>
                      <a:r>
                        <a:rPr lang="en-US"/>
                        <a:t>0.27</a:t>
                      </a:r>
                    </a:p>
                  </a:txBody>
                  <a:tcPr anchor="ctr"/>
                </a:tc>
                <a:extLst>
                  <a:ext uri="{0D108BD9-81ED-4DB2-BD59-A6C34878D82A}">
                    <a16:rowId xmlns:a16="http://schemas.microsoft.com/office/drawing/2014/main" val="4061031278"/>
                  </a:ext>
                </a:extLst>
              </a:tr>
              <a:tr h="558392">
                <a:tc>
                  <a:txBody>
                    <a:bodyPr/>
                    <a:lstStyle/>
                    <a:p>
                      <a:r>
                        <a:rPr lang="en-US" dirty="0" err="1"/>
                        <a:t>XGBoost</a:t>
                      </a:r>
                      <a:endParaRPr lang="en-US" dirty="0"/>
                    </a:p>
                  </a:txBody>
                  <a:tcPr anchor="ctr"/>
                </a:tc>
                <a:tc>
                  <a:txBody>
                    <a:bodyPr/>
                    <a:lstStyle/>
                    <a:p>
                      <a:r>
                        <a:rPr lang="en-US" dirty="0"/>
                        <a:t>0.62</a:t>
                      </a:r>
                    </a:p>
                  </a:txBody>
                  <a:tcPr anchor="ctr"/>
                </a:tc>
                <a:tc>
                  <a:txBody>
                    <a:bodyPr/>
                    <a:lstStyle/>
                    <a:p>
                      <a:r>
                        <a:rPr lang="en-US"/>
                        <a:t>0.54</a:t>
                      </a:r>
                    </a:p>
                  </a:txBody>
                  <a:tcPr anchor="ctr"/>
                </a:tc>
                <a:tc>
                  <a:txBody>
                    <a:bodyPr/>
                    <a:lstStyle/>
                    <a:p>
                      <a:r>
                        <a:rPr lang="en-US" dirty="0"/>
                        <a:t>0.57</a:t>
                      </a:r>
                    </a:p>
                  </a:txBody>
                  <a:tcPr anchor="ctr"/>
                </a:tc>
                <a:extLst>
                  <a:ext uri="{0D108BD9-81ED-4DB2-BD59-A6C34878D82A}">
                    <a16:rowId xmlns:a16="http://schemas.microsoft.com/office/drawing/2014/main" val="3591840781"/>
                  </a:ext>
                </a:extLst>
              </a:tr>
              <a:tr h="797703">
                <a:tc>
                  <a:txBody>
                    <a:bodyPr/>
                    <a:lstStyle/>
                    <a:p>
                      <a:r>
                        <a:rPr lang="en-US" dirty="0"/>
                        <a:t>Tuned </a:t>
                      </a:r>
                      <a:r>
                        <a:rPr lang="en-US" dirty="0" err="1"/>
                        <a:t>XGBoost</a:t>
                      </a:r>
                      <a:endParaRPr lang="en-US" dirty="0"/>
                    </a:p>
                  </a:txBody>
                  <a:tcPr anchor="ctr"/>
                </a:tc>
                <a:tc>
                  <a:txBody>
                    <a:bodyPr/>
                    <a:lstStyle/>
                    <a:p>
                      <a:r>
                        <a:rPr lang="en-US" dirty="0"/>
                        <a:t>0.48</a:t>
                      </a:r>
                    </a:p>
                  </a:txBody>
                  <a:tcPr anchor="ctr"/>
                </a:tc>
                <a:tc>
                  <a:txBody>
                    <a:bodyPr/>
                    <a:lstStyle/>
                    <a:p>
                      <a:r>
                        <a:rPr lang="en-US" dirty="0"/>
                        <a:t>0.54</a:t>
                      </a:r>
                    </a:p>
                  </a:txBody>
                  <a:tcPr anchor="ctr"/>
                </a:tc>
                <a:tc>
                  <a:txBody>
                    <a:bodyPr/>
                    <a:lstStyle/>
                    <a:p>
                      <a:r>
                        <a:rPr lang="en-US" dirty="0"/>
                        <a:t>0.51</a:t>
                      </a:r>
                    </a:p>
                  </a:txBody>
                  <a:tcPr anchor="ctr"/>
                </a:tc>
                <a:extLst>
                  <a:ext uri="{0D108BD9-81ED-4DB2-BD59-A6C34878D82A}">
                    <a16:rowId xmlns:a16="http://schemas.microsoft.com/office/drawing/2014/main" val="335389741"/>
                  </a:ext>
                </a:extLst>
              </a:tr>
              <a:tr h="797703">
                <a:tc>
                  <a:txBody>
                    <a:bodyPr/>
                    <a:lstStyle/>
                    <a:p>
                      <a:r>
                        <a:rPr lang="en-US" dirty="0"/>
                        <a:t>Optimal Threshold</a:t>
                      </a:r>
                    </a:p>
                  </a:txBody>
                  <a:tcPr anchor="ctr"/>
                </a:tc>
                <a:tc>
                  <a:txBody>
                    <a:bodyPr/>
                    <a:lstStyle/>
                    <a:p>
                      <a:r>
                        <a:rPr lang="en-US" dirty="0"/>
                        <a:t>0.77</a:t>
                      </a:r>
                    </a:p>
                  </a:txBody>
                  <a:tcPr anchor="ctr"/>
                </a:tc>
                <a:tc>
                  <a:txBody>
                    <a:bodyPr/>
                    <a:lstStyle/>
                    <a:p>
                      <a:r>
                        <a:rPr lang="en-US" dirty="0"/>
                        <a:t>0.49</a:t>
                      </a:r>
                    </a:p>
                  </a:txBody>
                  <a:tcPr anchor="ctr"/>
                </a:tc>
                <a:tc>
                  <a:txBody>
                    <a:bodyPr/>
                    <a:lstStyle/>
                    <a:p>
                      <a:r>
                        <a:rPr lang="en-US" dirty="0"/>
                        <a:t>0.60</a:t>
                      </a:r>
                    </a:p>
                  </a:txBody>
                  <a:tcPr anchor="ctr"/>
                </a:tc>
                <a:extLst>
                  <a:ext uri="{0D108BD9-81ED-4DB2-BD59-A6C34878D82A}">
                    <a16:rowId xmlns:a16="http://schemas.microsoft.com/office/drawing/2014/main" val="575223506"/>
                  </a:ext>
                </a:extLst>
              </a:tr>
            </a:tbl>
          </a:graphicData>
        </a:graphic>
      </p:graphicFrame>
    </p:spTree>
    <p:extLst>
      <p:ext uri="{BB962C8B-B14F-4D97-AF65-F5344CB8AC3E}">
        <p14:creationId xmlns:p14="http://schemas.microsoft.com/office/powerpoint/2010/main" val="907915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FF5EE67-DE83-C00F-F31C-58A2B46234DB}"/>
              </a:ext>
            </a:extLst>
          </p:cNvPr>
          <p:cNvSpPr>
            <a:spLocks noGrp="1"/>
          </p:cNvSpPr>
          <p:nvPr>
            <p:ph type="title"/>
          </p:nvPr>
        </p:nvSpPr>
        <p:spPr>
          <a:xfrm>
            <a:off x="1167492" y="69008"/>
            <a:ext cx="9779183" cy="1706563"/>
          </a:xfrm>
        </p:spPr>
        <p:txBody>
          <a:bodyPr anchor="b">
            <a:normAutofit/>
          </a:bodyPr>
          <a:lstStyle/>
          <a:p>
            <a:r>
              <a:rPr lang="en-US" dirty="0"/>
              <a:t>Clinical Utility Summary and Deployment</a:t>
            </a:r>
          </a:p>
        </p:txBody>
      </p:sp>
      <p:sp>
        <p:nvSpPr>
          <p:cNvPr id="3" name="Content Placeholder 2">
            <a:extLst>
              <a:ext uri="{FF2B5EF4-FFF2-40B4-BE49-F238E27FC236}">
                <a16:creationId xmlns:a16="http://schemas.microsoft.com/office/drawing/2014/main" id="{DAF7743C-9A64-6DD7-26EC-7870E2484D2F}"/>
              </a:ext>
            </a:extLst>
          </p:cNvPr>
          <p:cNvSpPr>
            <a:spLocks noGrp="1"/>
          </p:cNvSpPr>
          <p:nvPr>
            <p:ph idx="12"/>
          </p:nvPr>
        </p:nvSpPr>
        <p:spPr>
          <a:xfrm>
            <a:off x="1167492" y="2023984"/>
            <a:ext cx="5172347" cy="3809644"/>
          </a:xfrm>
        </p:spPr>
        <p:txBody>
          <a:bodyPr>
            <a:normAutofit fontScale="92500" lnSpcReduction="20000"/>
          </a:bodyPr>
          <a:lstStyle/>
          <a:p>
            <a:pPr marL="0" indent="0">
              <a:buNone/>
            </a:pPr>
            <a:r>
              <a:rPr lang="en-US" dirty="0"/>
              <a:t>We assigned each patient a risk score (0 to 1) based on clinical and genomic data to estimate their likelihood of dying from pancreatic cancer. Patients with higher scores were classified as high risk.</a:t>
            </a:r>
          </a:p>
          <a:p>
            <a:pPr marL="0" indent="0">
              <a:buNone/>
            </a:pPr>
            <a:r>
              <a:rPr lang="en-US" dirty="0"/>
              <a:t>At the optimal threshold, the model achieved 80% overall accuracy. It correctly identified 93% of deceased patients (recall) and had 80% precision for high-risk predictions. For living patients, precision was 77%, with a recall of 49%.</a:t>
            </a:r>
          </a:p>
          <a:p>
            <a:pPr marL="0" indent="0">
              <a:buNone/>
            </a:pPr>
            <a:r>
              <a:rPr lang="en-US" dirty="0"/>
              <a:t>This approach enables early identification of high-risk patients who may benefit from aggressive treatment or clinical trials, while low-risk patients can be managed less invasively.</a:t>
            </a:r>
          </a:p>
        </p:txBody>
      </p:sp>
      <p:pic>
        <p:nvPicPr>
          <p:cNvPr id="4" name="Picture 3">
            <a:extLst>
              <a:ext uri="{FF2B5EF4-FFF2-40B4-BE49-F238E27FC236}">
                <a16:creationId xmlns:a16="http://schemas.microsoft.com/office/drawing/2014/main" id="{1DF01AF9-64FE-2CAF-1A8A-B762A82A498A}"/>
              </a:ext>
            </a:extLst>
          </p:cNvPr>
          <p:cNvPicPr>
            <a:picLocks noChangeAspect="1"/>
          </p:cNvPicPr>
          <p:nvPr/>
        </p:nvPicPr>
        <p:blipFill>
          <a:blip r:embed="rId3"/>
          <a:stretch>
            <a:fillRect/>
          </a:stretch>
        </p:blipFill>
        <p:spPr>
          <a:xfrm>
            <a:off x="6528902" y="2023984"/>
            <a:ext cx="4931578" cy="3809645"/>
          </a:xfrm>
          <a:prstGeom prst="rect">
            <a:avLst/>
          </a:prstGeom>
          <a:noFill/>
        </p:spPr>
      </p:pic>
    </p:spTree>
    <p:extLst>
      <p:ext uri="{BB962C8B-B14F-4D97-AF65-F5344CB8AC3E}">
        <p14:creationId xmlns:p14="http://schemas.microsoft.com/office/powerpoint/2010/main" val="2529338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C00FF-6B42-7D84-7831-AACC4E189E93}"/>
              </a:ext>
            </a:extLst>
          </p:cNvPr>
          <p:cNvSpPr>
            <a:spLocks noGrp="1"/>
          </p:cNvSpPr>
          <p:nvPr>
            <p:ph type="title"/>
          </p:nvPr>
        </p:nvSpPr>
        <p:spPr>
          <a:xfrm>
            <a:off x="5549489" y="457199"/>
            <a:ext cx="5943599" cy="1920240"/>
          </a:xfrm>
        </p:spPr>
        <p:txBody>
          <a:bodyPr anchor="b">
            <a:normAutofit/>
          </a:bodyPr>
          <a:lstStyle/>
          <a:p>
            <a:r>
              <a:rPr lang="en-US" dirty="0"/>
              <a:t>Findings and Recommendations</a:t>
            </a:r>
          </a:p>
        </p:txBody>
      </p:sp>
      <p:pic>
        <p:nvPicPr>
          <p:cNvPr id="11" name="Content Placeholder 10" descr="A nurse helping an old person&#10;&#10;AI-generated content may be incorrect.">
            <a:extLst>
              <a:ext uri="{FF2B5EF4-FFF2-40B4-BE49-F238E27FC236}">
                <a16:creationId xmlns:a16="http://schemas.microsoft.com/office/drawing/2014/main" id="{FC70BD03-8CAB-3587-1624-4C29D4642B91}"/>
              </a:ext>
            </a:extLst>
          </p:cNvPr>
          <p:cNvPicPr>
            <a:picLocks noGrp="1" noChangeAspect="1"/>
          </p:cNvPicPr>
          <p:nvPr>
            <p:ph idx="17"/>
          </p:nvPr>
        </p:nvPicPr>
        <p:blipFill>
          <a:blip r:embed="rId3">
            <a:extLst>
              <a:ext uri="{837473B0-CC2E-450A-ABE3-18F120FF3D39}">
                <a1611:picAttrSrcUrl xmlns:a1611="http://schemas.microsoft.com/office/drawing/2016/11/main" r:id="rId4"/>
              </a:ext>
            </a:extLst>
          </a:blip>
          <a:srcRect r="33249" b="-1"/>
          <a:stretch>
            <a:fillRect/>
          </a:stretch>
        </p:blipFill>
        <p:spPr>
          <a:xfrm>
            <a:off x="823108" y="640080"/>
            <a:ext cx="4297680" cy="4297680"/>
          </a:xfrm>
          <a:noFill/>
        </p:spPr>
      </p:pic>
      <p:sp>
        <p:nvSpPr>
          <p:cNvPr id="4" name="Content Placeholder 3">
            <a:extLst>
              <a:ext uri="{FF2B5EF4-FFF2-40B4-BE49-F238E27FC236}">
                <a16:creationId xmlns:a16="http://schemas.microsoft.com/office/drawing/2014/main" id="{DE5C7B5A-A5C3-15D4-DF71-B692D28942FC}"/>
              </a:ext>
            </a:extLst>
          </p:cNvPr>
          <p:cNvSpPr>
            <a:spLocks noGrp="1"/>
          </p:cNvSpPr>
          <p:nvPr>
            <p:ph idx="15"/>
          </p:nvPr>
        </p:nvSpPr>
        <p:spPr>
          <a:xfrm>
            <a:off x="5549490" y="2479041"/>
            <a:ext cx="5943600" cy="3610608"/>
          </a:xfrm>
        </p:spPr>
        <p:txBody>
          <a:bodyPr>
            <a:normAutofit fontScale="92500" lnSpcReduction="10000"/>
          </a:bodyPr>
          <a:lstStyle/>
          <a:p>
            <a:pPr marL="0" indent="0">
              <a:buNone/>
            </a:pPr>
            <a:r>
              <a:rPr lang="en-US" sz="1800" b="1" dirty="0"/>
              <a:t>Key Recommendations:</a:t>
            </a:r>
          </a:p>
          <a:p>
            <a:r>
              <a:rPr lang="en-US" sz="1800" dirty="0"/>
              <a:t>Enable Early Risk Stratification</a:t>
            </a:r>
          </a:p>
          <a:p>
            <a:r>
              <a:rPr lang="en-US" sz="1800" dirty="0"/>
              <a:t>Use the model to flag high-risk patients early for faster intervention.</a:t>
            </a:r>
          </a:p>
          <a:p>
            <a:r>
              <a:rPr lang="en-US" sz="1800" dirty="0"/>
              <a:t>Improve Data Collection on Survivors</a:t>
            </a:r>
          </a:p>
          <a:p>
            <a:r>
              <a:rPr lang="en-US" sz="1800" dirty="0"/>
              <a:t>Fill the Predictive Gap in Pancreatic Cancer</a:t>
            </a:r>
          </a:p>
          <a:p>
            <a:r>
              <a:rPr lang="en-US" sz="1800" dirty="0"/>
              <a:t>Outperforms Traditional Risk Tools</a:t>
            </a:r>
          </a:p>
          <a:p>
            <a:pPr marL="0" indent="0">
              <a:buNone/>
            </a:pPr>
            <a:r>
              <a:rPr lang="en-US" sz="1800" b="1" dirty="0"/>
              <a:t>Cases: </a:t>
            </a:r>
          </a:p>
          <a:p>
            <a:r>
              <a:rPr lang="en-US" sz="1800" dirty="0"/>
              <a:t>Enhance Clinical Trial Selection</a:t>
            </a:r>
          </a:p>
          <a:p>
            <a:r>
              <a:rPr lang="en-US" sz="1800" dirty="0"/>
              <a:t>Optimize Hospital Resource Allocation</a:t>
            </a:r>
          </a:p>
          <a:p>
            <a:r>
              <a:rPr lang="en-US" sz="1800" dirty="0"/>
              <a:t>Scale to Regional &amp; Low-Resource Hospitals</a:t>
            </a:r>
            <a:r>
              <a:rPr lang="en-US" sz="1400" dirty="0"/>
              <a:t>.</a:t>
            </a:r>
          </a:p>
          <a:p>
            <a:endParaRPr lang="en-US" sz="1400" dirty="0"/>
          </a:p>
        </p:txBody>
      </p:sp>
    </p:spTree>
    <p:extLst>
      <p:ext uri="{BB962C8B-B14F-4D97-AF65-F5344CB8AC3E}">
        <p14:creationId xmlns:p14="http://schemas.microsoft.com/office/powerpoint/2010/main" val="853261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1C753FD-96EC-101A-B8A4-5F69A189BEF4}"/>
              </a:ext>
            </a:extLst>
          </p:cNvPr>
          <p:cNvSpPr>
            <a:spLocks noGrp="1"/>
          </p:cNvSpPr>
          <p:nvPr>
            <p:ph type="ctrTitle"/>
          </p:nvPr>
        </p:nvSpPr>
        <p:spPr>
          <a:xfrm>
            <a:off x="1167494" y="252549"/>
            <a:ext cx="6220278" cy="2114731"/>
          </a:xfrm>
        </p:spPr>
        <p:txBody>
          <a:bodyPr/>
          <a:lstStyle/>
          <a:p>
            <a:r>
              <a:rPr lang="en-US" dirty="0"/>
              <a:t>Thank you</a:t>
            </a:r>
            <a:br>
              <a:rPr lang="en-US" dirty="0"/>
            </a:br>
            <a:endParaRPr lang="en-US" dirty="0"/>
          </a:p>
        </p:txBody>
      </p:sp>
      <p:sp>
        <p:nvSpPr>
          <p:cNvPr id="5" name="Subtitle 4">
            <a:extLst>
              <a:ext uri="{FF2B5EF4-FFF2-40B4-BE49-F238E27FC236}">
                <a16:creationId xmlns:a16="http://schemas.microsoft.com/office/drawing/2014/main" id="{67BB04B7-47A4-741B-59E0-F0E6F2126E8F}"/>
              </a:ext>
            </a:extLst>
          </p:cNvPr>
          <p:cNvSpPr>
            <a:spLocks noGrp="1"/>
          </p:cNvSpPr>
          <p:nvPr>
            <p:ph type="subTitle" idx="1"/>
          </p:nvPr>
        </p:nvSpPr>
        <p:spPr>
          <a:xfrm>
            <a:off x="740773" y="3566160"/>
            <a:ext cx="6220277" cy="2795451"/>
          </a:xfrm>
        </p:spPr>
        <p:txBody>
          <a:bodyPr>
            <a:normAutofit fontScale="55000" lnSpcReduction="20000"/>
          </a:bodyPr>
          <a:lstStyle/>
          <a:p>
            <a:endParaRPr lang="en-US" dirty="0"/>
          </a:p>
          <a:p>
            <a:r>
              <a:rPr lang="en-US" sz="4400" b="1" dirty="0"/>
              <a:t>The Insight Lab:</a:t>
            </a:r>
          </a:p>
          <a:p>
            <a:br>
              <a:rPr lang="en-US" dirty="0"/>
            </a:br>
            <a:r>
              <a:rPr lang="en-US" dirty="0"/>
              <a:t>1. </a:t>
            </a:r>
            <a:r>
              <a:rPr lang="en-US" dirty="0" err="1"/>
              <a:t>joshua</a:t>
            </a:r>
            <a:r>
              <a:rPr lang="en-US" dirty="0"/>
              <a:t> </a:t>
            </a:r>
            <a:r>
              <a:rPr lang="en-US" dirty="0" err="1"/>
              <a:t>karanja</a:t>
            </a:r>
            <a:endParaRPr lang="en-US" dirty="0"/>
          </a:p>
          <a:p>
            <a:r>
              <a:rPr lang="en-US" dirty="0"/>
              <a:t>2. </a:t>
            </a:r>
            <a:r>
              <a:rPr lang="en-US" dirty="0" err="1"/>
              <a:t>michelle</a:t>
            </a:r>
            <a:r>
              <a:rPr lang="en-US" dirty="0"/>
              <a:t> </a:t>
            </a:r>
            <a:r>
              <a:rPr lang="en-US" dirty="0" err="1"/>
              <a:t>chekwoti</a:t>
            </a:r>
            <a:endParaRPr lang="en-US" dirty="0"/>
          </a:p>
          <a:p>
            <a:r>
              <a:rPr lang="en-US" dirty="0"/>
              <a:t>3. </a:t>
            </a:r>
            <a:r>
              <a:rPr lang="en-US" dirty="0" err="1"/>
              <a:t>myrajoy</a:t>
            </a:r>
            <a:r>
              <a:rPr lang="en-US" dirty="0"/>
              <a:t> </a:t>
            </a:r>
            <a:r>
              <a:rPr lang="en-US" dirty="0" err="1"/>
              <a:t>kiganane</a:t>
            </a:r>
            <a:endParaRPr lang="en-US" dirty="0"/>
          </a:p>
          <a:p>
            <a:r>
              <a:rPr lang="en-US" dirty="0"/>
              <a:t>4. </a:t>
            </a:r>
            <a:r>
              <a:rPr lang="en-US" dirty="0" err="1"/>
              <a:t>christopher</a:t>
            </a:r>
            <a:r>
              <a:rPr lang="en-US" dirty="0"/>
              <a:t> </a:t>
            </a:r>
            <a:r>
              <a:rPr lang="en-US" dirty="0" err="1"/>
              <a:t>katimbwa</a:t>
            </a:r>
            <a:endParaRPr lang="en-US" dirty="0"/>
          </a:p>
          <a:p>
            <a:r>
              <a:rPr lang="en-US" dirty="0"/>
              <a:t>5. </a:t>
            </a:r>
            <a:r>
              <a:rPr lang="en-US" dirty="0" err="1"/>
              <a:t>robert</a:t>
            </a:r>
            <a:r>
              <a:rPr lang="en-US" dirty="0"/>
              <a:t> </a:t>
            </a:r>
            <a:r>
              <a:rPr lang="en-US" dirty="0" err="1"/>
              <a:t>sumaili</a:t>
            </a:r>
            <a:endParaRPr lang="en-US" dirty="0"/>
          </a:p>
          <a:p>
            <a:br>
              <a:rPr lang="en-US" dirty="0"/>
            </a:br>
            <a:endParaRPr lang="en-US" dirty="0"/>
          </a:p>
        </p:txBody>
      </p:sp>
      <p:sp>
        <p:nvSpPr>
          <p:cNvPr id="2" name="Subtitle 4">
            <a:extLst>
              <a:ext uri="{FF2B5EF4-FFF2-40B4-BE49-F238E27FC236}">
                <a16:creationId xmlns:a16="http://schemas.microsoft.com/office/drawing/2014/main" id="{AE646291-D510-FCDB-5824-A779F6205CF0}"/>
              </a:ext>
            </a:extLst>
          </p:cNvPr>
          <p:cNvSpPr txBox="1">
            <a:spLocks/>
          </p:cNvSpPr>
          <p:nvPr/>
        </p:nvSpPr>
        <p:spPr>
          <a:xfrm>
            <a:off x="740773" y="1747520"/>
            <a:ext cx="8149227" cy="2265680"/>
          </a:xfrm>
          <a:prstGeom prst="rect">
            <a:avLst/>
          </a:prstGeom>
        </p:spPr>
        <p:txBody>
          <a:bodyPr vert="horz" lIns="91440" tIns="45720" rIns="91440" bIns="45720" rtlCol="0" anchor="t" anchorCtr="0">
            <a:normAutofit fontScale="55000" lnSpcReduction="20000"/>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p>
          <a:p>
            <a:r>
              <a:rPr lang="en-US" sz="3700" dirty="0"/>
              <a:t>Sources:</a:t>
            </a:r>
          </a:p>
          <a:p>
            <a:r>
              <a:rPr lang="en-US" sz="3700" dirty="0">
                <a:hlinkClick r:id="rId3"/>
              </a:rPr>
              <a:t>https://www.cbioportal.org/study/summary?id=msk_chord_2024</a:t>
            </a:r>
            <a:endParaRPr lang="en-US" sz="3700" dirty="0"/>
          </a:p>
          <a:p>
            <a:r>
              <a:rPr lang="en-US" sz="3600" dirty="0" err="1"/>
              <a:t>StreamLit</a:t>
            </a:r>
            <a:r>
              <a:rPr lang="en-US" sz="3600" dirty="0"/>
              <a:t> App:</a:t>
            </a:r>
          </a:p>
          <a:p>
            <a:r>
              <a:rPr lang="en-US" u="sng" dirty="0"/>
              <a:t>.https://pancreatic-cancer-survival-prediction-j8c9ur8ygcnzdgusq7h7ho.streamlit.app</a:t>
            </a:r>
            <a:endParaRPr lang="en-US" sz="7400" dirty="0"/>
          </a:p>
          <a:p>
            <a:br>
              <a:rPr lang="en-US" dirty="0"/>
            </a:br>
            <a:endParaRPr lang="en-US" dirty="0"/>
          </a:p>
        </p:txBody>
      </p:sp>
    </p:spTree>
    <p:extLst>
      <p:ext uri="{BB962C8B-B14F-4D97-AF65-F5344CB8AC3E}">
        <p14:creationId xmlns:p14="http://schemas.microsoft.com/office/powerpoint/2010/main" val="1609673525"/>
      </p:ext>
    </p:extLst>
  </p:cSld>
  <p:clrMapOvr>
    <a:masterClrMapping/>
  </p:clrMapOvr>
</p:sld>
</file>

<file path=ppt/theme/theme1.xml><?xml version="1.0" encoding="utf-8"?>
<a:theme xmlns:a="http://schemas.openxmlformats.org/drawingml/2006/main" name="Custom">
  <a:themeElements>
    <a:clrScheme name="Custom 1">
      <a:dk1>
        <a:srgbClr val="000000"/>
      </a:dk1>
      <a:lt1>
        <a:srgbClr val="FFFFFF"/>
      </a:lt1>
      <a:dk2>
        <a:srgbClr val="44546A"/>
      </a:dk2>
      <a:lt2>
        <a:srgbClr val="E7E6E6"/>
      </a:lt2>
      <a:accent1>
        <a:srgbClr val="12B2FA"/>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5331398_Win32_SL_V13" id="{C59E605D-C281-4A06-BDA0-E97A35AC3AA8}" vid="{25D1D206-DA25-4050-926A-BD6D3A1B50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5A8381C-73EB-48EA-B45F-7B7C8C7DF409}">
  <ds:schemaRefs>
    <ds:schemaRef ds:uri="http://schemas.microsoft.com/sharepoint/v3/contenttype/forms"/>
  </ds:schemaRefs>
</ds:datastoreItem>
</file>

<file path=customXml/itemProps2.xml><?xml version="1.0" encoding="utf-8"?>
<ds:datastoreItem xmlns:ds="http://schemas.openxmlformats.org/officeDocument/2006/customXml" ds:itemID="{5AA6A711-2C3F-4EC0-B88B-62D7408511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1E98C35-9ECE-4425-BCBA-00E118C705C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{FBE7837D-3E77-4CA5-83D6-18D17853ED9D}TF0e83fa2d-9a66-4e5e-9e82-acc620be7a498e277179_win32-f234380521c6</Template>
  <TotalTime>193</TotalTime>
  <Words>836</Words>
  <Application>Microsoft Office PowerPoint</Application>
  <PresentationFormat>Widescreen</PresentationFormat>
  <Paragraphs>101</Paragraphs>
  <Slides>11</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Tenorite</vt:lpstr>
      <vt:lpstr>Custom</vt:lpstr>
      <vt:lpstr>Pancreatic Cancer Risk Identification and Treatment Recommendation</vt:lpstr>
      <vt:lpstr>Introduction and Background</vt:lpstr>
      <vt:lpstr>Data Understanding</vt:lpstr>
      <vt:lpstr>Cleaning and Preprocessing</vt:lpstr>
      <vt:lpstr>Exploratory Data Analysis (EDA)</vt:lpstr>
      <vt:lpstr>Cancer stage and Survival Status</vt:lpstr>
      <vt:lpstr>Metastatic Site and Survival Status</vt:lpstr>
      <vt:lpstr>Model Development</vt:lpstr>
      <vt:lpstr>Clinical Utility Summary and Deployment</vt:lpstr>
      <vt:lpstr>Findings and Recommendations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Michelle Chekwooti</dc:creator>
  <cp:lastModifiedBy>Michelle Chekwooti</cp:lastModifiedBy>
  <cp:revision>5</cp:revision>
  <dcterms:created xsi:type="dcterms:W3CDTF">2025-07-25T08:35:21Z</dcterms:created>
  <dcterms:modified xsi:type="dcterms:W3CDTF">2025-07-25T12:00:58Z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